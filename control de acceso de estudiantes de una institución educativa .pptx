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embeddedFontLst>
    <p:embeddedFont>
      <p:font typeface="Patrick Hand"/>
      <p:regular r:id="rId47"/>
    </p:embeddedFont>
    <p:embeddedFont>
      <p:font typeface="Barlow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DB684E3F-FEB2-4F04-8B09-10E6F3D809C2}">
  <a:tblStyle styleId="{DB684E3F-FEB2-4F04-8B09-10E6F3D809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Barlow-regular.fntdata"/><Relationship Id="rId47" Type="http://schemas.openxmlformats.org/officeDocument/2006/relationships/font" Target="fonts/PatrickHand-regular.fntdata"/><Relationship Id="rId49" Type="http://schemas.openxmlformats.org/officeDocument/2006/relationships/font" Target="fonts/Barlow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Barlow-boldItalic.fntdata"/><Relationship Id="rId50" Type="http://schemas.openxmlformats.org/officeDocument/2006/relationships/font" Target="fonts/Barlow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96bf1f6f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896bf1f6f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896bf1f6f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896bf1f6f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896bf1f6f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896bf1f6f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896bf1f6f7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896bf1f6f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896bf1f6f7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896bf1f6f7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68f8f8b5057edb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468f8f8b5057edb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96bf1f6f7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96bf1f6f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8920e54d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8920e54d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8920e54db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8920e54db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8920e54db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8920e54db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8920e54db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8920e54db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8920e54d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8920e54d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8920e54db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8920e54db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8920e54db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8920e54db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8920e54db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8920e54db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8920e54db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8920e54db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885c2b010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885c2b010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885c2b0105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885c2b0105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885c2b0105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885c2b0105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885c2b0105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885c2b0105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885c2b0105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885c2b0105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85c2b0105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85c2b0105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885c2b0105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885c2b0105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885c2b0105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885c2b0105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885c2b0105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885c2b0105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885c2b0105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885c2b0105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896bf1f6f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896bf1f6f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8a7247629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8a7247629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8a7247629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8a7247629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8a7247629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8a7247629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896bf1f6f7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896bf1f6f7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896bf1f6f7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896bf1f6f7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896bf1f6f7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896bf1f6f7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896bf1f6f7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896bf1f6f7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8a8a6157e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8a8a6157e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8a8a6157e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8a8a6157e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8a8a6157e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8a8a6157e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8a8a6157e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8a8a6157e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8a8a6157e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8a8a6157e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872900" y="-75"/>
            <a:ext cx="1271100" cy="5143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241225" y="1310875"/>
            <a:ext cx="6509100" cy="2521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2710225" y="1310850"/>
            <a:ext cx="5476800" cy="252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ubtitle">
  <p:cSld name="TITL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3047925" y="-75"/>
            <a:ext cx="6096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2241225" y="1770000"/>
            <a:ext cx="6509100" cy="160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ctrTitle"/>
          </p:nvPr>
        </p:nvSpPr>
        <p:spPr>
          <a:xfrm>
            <a:off x="2935400" y="1846200"/>
            <a:ext cx="5814900" cy="9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2935400" y="2604625"/>
            <a:ext cx="5814900" cy="4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">
  <p:cSld name="TITLE_1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3047925" y="-75"/>
            <a:ext cx="6096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2645075" y="393425"/>
            <a:ext cx="806700" cy="806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rgbClr val="FFB000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731575" y="393525"/>
            <a:ext cx="4713000" cy="43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572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600"/>
              <a:buChar char="▪"/>
              <a:defRPr b="1" sz="3600"/>
            </a:lvl1pPr>
            <a:lvl2pPr indent="-457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▫"/>
              <a:defRPr b="1" sz="3600"/>
            </a:lvl2pPr>
            <a:lvl3pPr indent="-457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▫"/>
              <a:defRPr b="1" sz="3600"/>
            </a:lvl3pPr>
            <a:lvl4pPr indent="-457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▫"/>
              <a:defRPr b="1" sz="3600"/>
            </a:lvl4pPr>
            <a:lvl5pPr indent="-457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b="1" sz="3600"/>
            </a:lvl5pPr>
            <a:lvl6pPr indent="-457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b="1" sz="3600"/>
            </a:lvl6pPr>
            <a:lvl7pPr indent="-457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b="1" sz="3600"/>
            </a:lvl7pPr>
            <a:lvl8pPr indent="-457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b="1" sz="3600"/>
            </a:lvl8pPr>
            <a:lvl9pPr indent="-457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b="1" sz="3600"/>
            </a:lvl9pPr>
          </a:lstStyle>
          <a:p/>
        </p:txBody>
      </p:sp>
      <p:sp>
        <p:nvSpPr>
          <p:cNvPr id="23" name="Google Shape;23;p4"/>
          <p:cNvSpPr txBox="1"/>
          <p:nvPr/>
        </p:nvSpPr>
        <p:spPr>
          <a:xfrm>
            <a:off x="2654717" y="337850"/>
            <a:ext cx="78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200">
                <a:solidFill>
                  <a:srgbClr val="FFFFFF"/>
                </a:solidFill>
              </a:rPr>
              <a:t>“</a:t>
            </a:r>
            <a:endParaRPr b="1" sz="7200">
              <a:solidFill>
                <a:srgbClr val="FFFFFF"/>
              </a:solidFill>
            </a:endParaRPr>
          </a:p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1271100" y="-75"/>
            <a:ext cx="78729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rgbClr val="FFB000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877500" y="393525"/>
            <a:ext cx="7872900" cy="806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1556331" y="1349141"/>
            <a:ext cx="7085700" cy="29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>
              <a:spcBef>
                <a:spcPts val="600"/>
              </a:spcBef>
              <a:spcAft>
                <a:spcPts val="0"/>
              </a:spcAft>
              <a:buSzPts val="2600"/>
              <a:buChar char="▪"/>
              <a:defRPr/>
            </a:lvl1pPr>
            <a:lvl2pPr indent="-393700" lvl="1" marL="914400">
              <a:spcBef>
                <a:spcPts val="0"/>
              </a:spcBef>
              <a:spcAft>
                <a:spcPts val="0"/>
              </a:spcAft>
              <a:buSzPts val="2600"/>
              <a:buChar char="▫"/>
              <a:defRPr/>
            </a:lvl2pPr>
            <a:lvl3pPr indent="-393700" lvl="2" marL="1371600">
              <a:spcBef>
                <a:spcPts val="0"/>
              </a:spcBef>
              <a:spcAft>
                <a:spcPts val="0"/>
              </a:spcAft>
              <a:buSzPts val="2600"/>
              <a:buChar char="▫"/>
              <a:defRPr/>
            </a:lvl3pPr>
            <a:lvl4pPr indent="-393700" lvl="3" marL="1828800">
              <a:spcBef>
                <a:spcPts val="0"/>
              </a:spcBef>
              <a:spcAft>
                <a:spcPts val="0"/>
              </a:spcAft>
              <a:buSzPts val="2600"/>
              <a:buChar char="▫"/>
              <a:defRPr/>
            </a:lvl4pPr>
            <a:lvl5pPr indent="-393700" lvl="4" marL="2286000">
              <a:spcBef>
                <a:spcPts val="0"/>
              </a:spcBef>
              <a:spcAft>
                <a:spcPts val="0"/>
              </a:spcAft>
              <a:buSzPts val="2600"/>
              <a:buChar char="○"/>
              <a:defRPr/>
            </a:lvl5pPr>
            <a:lvl6pPr indent="-393700" lvl="5" marL="2743200">
              <a:spcBef>
                <a:spcPts val="0"/>
              </a:spcBef>
              <a:spcAft>
                <a:spcPts val="0"/>
              </a:spcAft>
              <a:buSzPts val="2600"/>
              <a:buChar char="■"/>
              <a:defRPr/>
            </a:lvl6pPr>
            <a:lvl7pPr indent="-393700" lvl="6" marL="32004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7pPr>
            <a:lvl8pPr indent="-393700" lvl="7" marL="3657600">
              <a:spcBef>
                <a:spcPts val="0"/>
              </a:spcBef>
              <a:spcAft>
                <a:spcPts val="0"/>
              </a:spcAft>
              <a:buSzPts val="2600"/>
              <a:buChar char="○"/>
              <a:defRPr/>
            </a:lvl8pPr>
            <a:lvl9pPr indent="-393700" lvl="8" marL="4114800">
              <a:spcBef>
                <a:spcPts val="0"/>
              </a:spcBef>
              <a:spcAft>
                <a:spcPts val="0"/>
              </a:spcAft>
              <a:buSzPts val="26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7943750" y="393425"/>
            <a:ext cx="806700" cy="806700"/>
          </a:xfrm>
          <a:prstGeom prst="rect">
            <a:avLst/>
          </a:prstGeom>
          <a:solidFill>
            <a:srgbClr val="FFFFFF">
              <a:alpha val="52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 half slide">
  <p:cSld name="TITLE_AND_BODY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rgbClr val="FFB000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4178396" y="393525"/>
            <a:ext cx="4572000" cy="806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4483099" y="393475"/>
            <a:ext cx="3460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865550" y="1349150"/>
            <a:ext cx="3776400" cy="29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600"/>
              </a:spcBef>
              <a:spcAft>
                <a:spcPts val="0"/>
              </a:spcAft>
              <a:buSzPts val="2200"/>
              <a:buChar char="▪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0" name="Google Shape;40;p6"/>
          <p:cNvSpPr/>
          <p:nvPr/>
        </p:nvSpPr>
        <p:spPr>
          <a:xfrm>
            <a:off x="7943750" y="393425"/>
            <a:ext cx="806700" cy="806700"/>
          </a:xfrm>
          <a:prstGeom prst="rect">
            <a:avLst/>
          </a:prstGeom>
          <a:solidFill>
            <a:srgbClr val="FFFFFF">
              <a:alpha val="52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2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>
            <a:off x="1271100" y="-75"/>
            <a:ext cx="78729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rgbClr val="FFB000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/>
          <p:cNvSpPr/>
          <p:nvPr/>
        </p:nvSpPr>
        <p:spPr>
          <a:xfrm>
            <a:off x="877500" y="393525"/>
            <a:ext cx="7872900" cy="806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1576275" y="1367175"/>
            <a:ext cx="3482400" cy="33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600"/>
              </a:spcBef>
              <a:spcAft>
                <a:spcPts val="0"/>
              </a:spcAft>
              <a:buSzPts val="2200"/>
              <a:buChar char="▪"/>
              <a:defRPr sz="22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5268071" y="1367175"/>
            <a:ext cx="3482400" cy="33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600"/>
              </a:spcBef>
              <a:spcAft>
                <a:spcPts val="0"/>
              </a:spcAft>
              <a:buSzPts val="2200"/>
              <a:buChar char="▪"/>
              <a:defRPr sz="22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7943750" y="393425"/>
            <a:ext cx="806700" cy="806700"/>
          </a:xfrm>
          <a:prstGeom prst="rect">
            <a:avLst/>
          </a:prstGeom>
          <a:solidFill>
            <a:srgbClr val="FFFFFF">
              <a:alpha val="52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3 columns">
  <p:cSld name="TITLE_AND_TWO_COLUMNS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/>
          <p:nvPr/>
        </p:nvSpPr>
        <p:spPr>
          <a:xfrm>
            <a:off x="1271100" y="-75"/>
            <a:ext cx="78729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8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8"/>
          <p:cNvSpPr/>
          <p:nvPr/>
        </p:nvSpPr>
        <p:spPr>
          <a:xfrm>
            <a:off x="877500" y="393525"/>
            <a:ext cx="7872900" cy="806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8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1560175" y="1375225"/>
            <a:ext cx="2317500" cy="3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56" name="Google Shape;56;p8"/>
          <p:cNvSpPr txBox="1"/>
          <p:nvPr>
            <p:ph idx="2" type="body"/>
          </p:nvPr>
        </p:nvSpPr>
        <p:spPr>
          <a:xfrm>
            <a:off x="3996525" y="1375225"/>
            <a:ext cx="2317500" cy="3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57" name="Google Shape;57;p8"/>
          <p:cNvSpPr txBox="1"/>
          <p:nvPr>
            <p:ph idx="3" type="body"/>
          </p:nvPr>
        </p:nvSpPr>
        <p:spPr>
          <a:xfrm>
            <a:off x="6432874" y="1375225"/>
            <a:ext cx="2317500" cy="3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9" name="Google Shape;59;p8"/>
          <p:cNvSpPr/>
          <p:nvPr/>
        </p:nvSpPr>
        <p:spPr>
          <a:xfrm>
            <a:off x="7943750" y="393425"/>
            <a:ext cx="806700" cy="806700"/>
          </a:xfrm>
          <a:prstGeom prst="rect">
            <a:avLst/>
          </a:prstGeom>
          <a:solidFill>
            <a:srgbClr val="FFFFFF">
              <a:alpha val="52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/>
          <p:nvPr/>
        </p:nvSpPr>
        <p:spPr>
          <a:xfrm>
            <a:off x="1271100" y="-75"/>
            <a:ext cx="78729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rgbClr val="FFB000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9"/>
          <p:cNvSpPr/>
          <p:nvPr/>
        </p:nvSpPr>
        <p:spPr>
          <a:xfrm>
            <a:off x="877500" y="393525"/>
            <a:ext cx="7872900" cy="806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9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7943750" y="393425"/>
            <a:ext cx="806700" cy="806700"/>
          </a:xfrm>
          <a:prstGeom prst="rect">
            <a:avLst/>
          </a:prstGeom>
          <a:solidFill>
            <a:srgbClr val="FFFFFF">
              <a:alpha val="52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/>
          <p:nvPr/>
        </p:nvSpPr>
        <p:spPr>
          <a:xfrm>
            <a:off x="1271100" y="-75"/>
            <a:ext cx="78729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0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rgbClr val="FFB000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0"/>
          <p:cNvSpPr/>
          <p:nvPr/>
        </p:nvSpPr>
        <p:spPr>
          <a:xfrm>
            <a:off x="877500" y="4356125"/>
            <a:ext cx="7479300" cy="393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182200" y="4356200"/>
            <a:ext cx="717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73" name="Google Shape;73;p10"/>
          <p:cNvSpPr/>
          <p:nvPr/>
        </p:nvSpPr>
        <p:spPr>
          <a:xfrm>
            <a:off x="7963200" y="4356125"/>
            <a:ext cx="393600" cy="393600"/>
          </a:xfrm>
          <a:prstGeom prst="rect">
            <a:avLst/>
          </a:prstGeom>
          <a:solidFill>
            <a:srgbClr val="FFFFFF">
              <a:alpha val="52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/>
          <p:nvPr/>
        </p:nvSpPr>
        <p:spPr>
          <a:xfrm>
            <a:off x="1271100" y="-75"/>
            <a:ext cx="78729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1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rgbClr val="FFB000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with icon space">
  <p:cSld name="BLANK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/>
          <p:nvPr/>
        </p:nvSpPr>
        <p:spPr>
          <a:xfrm>
            <a:off x="1271100" y="-75"/>
            <a:ext cx="78729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2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rgbClr val="FFB000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2" name="Google Shape;82;p12"/>
          <p:cNvSpPr/>
          <p:nvPr/>
        </p:nvSpPr>
        <p:spPr>
          <a:xfrm>
            <a:off x="867750" y="393425"/>
            <a:ext cx="806700" cy="806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Full background image">
  <p:cSld name="BLANK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872900" y="-75"/>
            <a:ext cx="12711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rgbClr val="FFB000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_2">
  <p:cSld name="TITLE_2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"/>
              <a:buNone/>
              <a:defRPr b="1" sz="2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"/>
              <a:buNone/>
              <a:defRPr b="1" sz="2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"/>
              <a:buNone/>
              <a:defRPr b="1" sz="2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"/>
              <a:buNone/>
              <a:defRPr b="1" sz="2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"/>
              <a:buNone/>
              <a:defRPr b="1" sz="2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"/>
              <a:buNone/>
              <a:defRPr b="1" sz="2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"/>
              <a:buNone/>
              <a:defRPr b="1" sz="2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"/>
              <a:buNone/>
              <a:defRPr b="1" sz="2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"/>
              <a:buNone/>
              <a:defRPr b="1" sz="2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56331" y="1349141"/>
            <a:ext cx="7085700" cy="29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Barlow"/>
              <a:buChar char="▪"/>
              <a:defRPr sz="2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93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Barlow"/>
              <a:buChar char="▫"/>
              <a:defRPr sz="2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93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Barlow"/>
              <a:buChar char="▫"/>
              <a:defRPr sz="2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937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arlow"/>
              <a:buChar char="▫"/>
              <a:defRPr sz="2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937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arlow"/>
              <a:buChar char="○"/>
              <a:defRPr sz="2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937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arlow"/>
              <a:buChar char="■"/>
              <a:defRPr sz="2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937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arlow"/>
              <a:buChar char="●"/>
              <a:defRPr sz="2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937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arlow"/>
              <a:buChar char="○"/>
              <a:defRPr sz="2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937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arlow"/>
              <a:buChar char="■"/>
              <a:defRPr sz="2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b="1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buNone/>
              <a:defRPr b="1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buNone/>
              <a:defRPr b="1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buNone/>
              <a:defRPr b="1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buNone/>
              <a:defRPr b="1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buNone/>
              <a:defRPr b="1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buNone/>
              <a:defRPr b="1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buNone/>
              <a:defRPr b="1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buNone/>
              <a:defRPr b="1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ctrTitle"/>
          </p:nvPr>
        </p:nvSpPr>
        <p:spPr>
          <a:xfrm>
            <a:off x="259225" y="315925"/>
            <a:ext cx="8520600" cy="87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DE ACCESO PARA LOS ESTUDIANTES DE UNA INSTITUCIÓN EDUCATIVA </a:t>
            </a:r>
            <a:endParaRPr b="1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6" name="Google Shape;96;p15"/>
          <p:cNvSpPr txBox="1"/>
          <p:nvPr>
            <p:ph idx="1" type="subTitle"/>
          </p:nvPr>
        </p:nvSpPr>
        <p:spPr>
          <a:xfrm>
            <a:off x="451650" y="1742400"/>
            <a:ext cx="8520600" cy="31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SOFIA PAEZ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JEAN PAUL QUITIAN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DAVID PEREGUEZ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JHOJAN ARIAS 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NÚMERO DE FICHA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2067454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ANÁLISIS Y DESARROLLO DE SISTEMAS DE INFORMACIÓN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PROYECTO PRIMER TRIMESTRE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BOGOTA D.C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2020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ctrTitle"/>
          </p:nvPr>
        </p:nvSpPr>
        <p:spPr>
          <a:xfrm>
            <a:off x="311700" y="332525"/>
            <a:ext cx="8520600" cy="59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DE ACCESO PARA LOS ESTUDIANTES DE UNA INSTITUCIÓN EDUCATIVA </a:t>
            </a:r>
            <a:endParaRPr sz="1700"/>
          </a:p>
        </p:txBody>
      </p:sp>
      <p:sp>
        <p:nvSpPr>
          <p:cNvPr id="102" name="Google Shape;102;p16"/>
          <p:cNvSpPr txBox="1"/>
          <p:nvPr>
            <p:ph idx="1" type="subTitle"/>
          </p:nvPr>
        </p:nvSpPr>
        <p:spPr>
          <a:xfrm>
            <a:off x="556625" y="1164950"/>
            <a:ext cx="8520600" cy="38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SOFIA PAEZ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JEAN PAUL QUITIAN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DAVID PEREGUEZ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JHOJAN ARIAS 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Proyecto de análisis y desarrollo de sistemas de información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Centro de formación Sena - CEET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Paola Tovar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Instructora 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ANÁLISIS Y DESARROLLO DE SISTEMAS DE INFORMACIÓN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PROYECTO PRIMER TRIMESTRE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BOGOTA D.C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2020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Nombre del proyecto  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1182200" y="2131750"/>
            <a:ext cx="80301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latin typeface="Times New Roman"/>
                <a:ea typeface="Times New Roman"/>
                <a:cs typeface="Times New Roman"/>
                <a:sym typeface="Times New Roman"/>
              </a:rPr>
              <a:t>CONTROL DE ACCESO PARA LOS ESTUDIANTES DE UNA INSTITUCIÓN EDUCATIVA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324100" y="1865350"/>
            <a:ext cx="7746300" cy="183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1436900" y="2032600"/>
            <a:ext cx="7520700" cy="1499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Planteamiento del problema  </a:t>
            </a: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1422925" y="685225"/>
            <a:ext cx="5677200" cy="21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434343"/>
                </a:solidFill>
              </a:rPr>
              <a:t>A partir del levantamiento de información,En las  instituciones educativas se encuentra el  problemas de acceso no deseado por partes de algunas personas que no pertenecen a la institución, suplantando a los estudiantes y no teniendo un registro claro de ellos,ya que estas instituciones no cuentan con páginas o apps para que puedan identificar fácilmente a los estudiantes ya que los carnets son facil de perder y algunos vigilantes lo pasan por alto y dejan pasar a los estudiantes sin tener ningún control del total de estudiantes y personal que se encuentra en la institución,o si ellos entran  a sus clases </a:t>
            </a:r>
            <a:r>
              <a:rPr lang="es" sz="1300">
                <a:solidFill>
                  <a:srgbClr val="434343"/>
                </a:solidFill>
              </a:rPr>
              <a:t> </a:t>
            </a:r>
            <a:endParaRPr sz="1300">
              <a:solidFill>
                <a:srgbClr val="434343"/>
              </a:solidFill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6350" y="2435425"/>
            <a:ext cx="2117649" cy="141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 general </a:t>
            </a:r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1182200" y="2133150"/>
            <a:ext cx="7492500" cy="18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Implementar una app para tener el control del acceso total de la institución educativa de cada persona que sale y entra de ella y generar mayor seguridad para los estudiantes y personal de la institución.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 </a:t>
            </a:r>
            <a:r>
              <a:rPr lang="es"/>
              <a:t>específicos</a:t>
            </a:r>
            <a:r>
              <a:rPr lang="es"/>
              <a:t> </a:t>
            </a:r>
            <a:endParaRPr/>
          </a:p>
        </p:txBody>
      </p:sp>
      <p:sp>
        <p:nvSpPr>
          <p:cNvPr id="129" name="Google Shape;129;p20"/>
          <p:cNvSpPr txBox="1"/>
          <p:nvPr/>
        </p:nvSpPr>
        <p:spPr>
          <a:xfrm>
            <a:off x="1243225" y="1775750"/>
            <a:ext cx="5298300" cy="30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s" sz="1500"/>
              <a:t>Mejorar el acceso a  la </a:t>
            </a:r>
            <a:r>
              <a:rPr lang="es" sz="1500"/>
              <a:t>institución con  el número de identificación y huella 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s" sz="1500"/>
              <a:t>Tener un registro exacto de los estudiantes y el </a:t>
            </a:r>
            <a:r>
              <a:rPr lang="es" sz="1500"/>
              <a:t>personal</a:t>
            </a:r>
            <a:r>
              <a:rPr lang="es" sz="1500"/>
              <a:t> que ingresa a la </a:t>
            </a:r>
            <a:r>
              <a:rPr lang="es" sz="1500"/>
              <a:t>institución.</a:t>
            </a:r>
            <a:r>
              <a:rPr lang="es" sz="1500"/>
              <a:t> 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s" sz="1500"/>
              <a:t>Mejorar la seguridad de los estudiantes 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175" y="2571750"/>
            <a:ext cx="2936225" cy="2277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justificación</a:t>
            </a:r>
            <a:r>
              <a:rPr lang="es"/>
              <a:t> </a:t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1936375" y="1867900"/>
            <a:ext cx="5165700" cy="21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A partir de la </a:t>
            </a:r>
            <a:r>
              <a:rPr lang="es" sz="1500"/>
              <a:t>problemática</a:t>
            </a:r>
            <a:r>
              <a:rPr lang="es" sz="1500"/>
              <a:t> identificada en la </a:t>
            </a:r>
            <a:r>
              <a:rPr lang="es" sz="1500"/>
              <a:t>institución</a:t>
            </a:r>
            <a:r>
              <a:rPr lang="es" sz="1500"/>
              <a:t>,en </a:t>
            </a:r>
            <a:r>
              <a:rPr lang="es" sz="1500"/>
              <a:t>relación</a:t>
            </a:r>
            <a:r>
              <a:rPr lang="es" sz="1500"/>
              <a:t> con las actividades de acceso seguro para los </a:t>
            </a:r>
            <a:r>
              <a:rPr lang="es" sz="1500"/>
              <a:t>estudiantes</a:t>
            </a:r>
            <a:r>
              <a:rPr lang="es" sz="1500"/>
              <a:t> y personal ya que el ingreso a la </a:t>
            </a:r>
            <a:r>
              <a:rPr lang="es" sz="1500"/>
              <a:t>institución</a:t>
            </a:r>
            <a:r>
              <a:rPr lang="es" sz="1500"/>
              <a:t> no es seguro y cualquiera hacerse pasar por estudiantes tambien por que no hay un control exacto de las personas que </a:t>
            </a:r>
            <a:r>
              <a:rPr lang="es" sz="1500"/>
              <a:t>están</a:t>
            </a:r>
            <a:r>
              <a:rPr lang="es" sz="1500"/>
              <a:t> en la </a:t>
            </a:r>
            <a:r>
              <a:rPr lang="es" sz="1500"/>
              <a:t>institución</a:t>
            </a:r>
            <a:r>
              <a:rPr lang="es" sz="1500"/>
              <a:t> para ello una app para tener la totalidad  de accesos y de cada persona que se encuentra en ella y generando la seguridad necesaria.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 funcionales </a:t>
            </a:r>
            <a:endParaRPr/>
          </a:p>
        </p:txBody>
      </p:sp>
      <p:graphicFrame>
        <p:nvGraphicFramePr>
          <p:cNvPr id="142" name="Google Shape;142;p22"/>
          <p:cNvGraphicFramePr/>
          <p:nvPr/>
        </p:nvGraphicFramePr>
        <p:xfrm>
          <a:off x="1609800" y="1514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087800"/>
                <a:gridCol w="3651700"/>
              </a:tblGrid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RF01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Autenticación</a:t>
                      </a:r>
                      <a:r>
                        <a:rPr lang="es"/>
                        <a:t> del usuario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122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</a:t>
                      </a:r>
                      <a:r>
                        <a:rPr b="1" lang="es"/>
                        <a:t>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podrá ser consultado por cualquier usuario dependiendo del módulo en el cual se encuentre y su nivel de accesibilidad 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</a:t>
                      </a:r>
                      <a:r>
                        <a:rPr lang="es"/>
                        <a:t>será</a:t>
                      </a:r>
                      <a:r>
                        <a:rPr lang="es"/>
                        <a:t> </a:t>
                      </a:r>
                      <a:r>
                        <a:rPr lang="es"/>
                        <a:t>fácil</a:t>
                      </a:r>
                      <a:r>
                        <a:rPr lang="es"/>
                        <a:t> para consultar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3" name="Google Shape;143;p22"/>
          <p:cNvGraphicFramePr/>
          <p:nvPr/>
        </p:nvGraphicFramePr>
        <p:xfrm>
          <a:off x="1609788" y="438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6739500"/>
              </a:tblGrid>
              <a:tr h="38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Requisito :</a:t>
                      </a:r>
                      <a:r>
                        <a:rPr lang="es"/>
                        <a:t>Alta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Google Shape;148;p23"/>
          <p:cNvGraphicFramePr/>
          <p:nvPr/>
        </p:nvGraphicFramePr>
        <p:xfrm>
          <a:off x="2003300" y="117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087800"/>
                <a:gridCol w="3651700"/>
              </a:tblGrid>
              <a:tr h="56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RF02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Registrar usuarios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122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permitirá al usuario (usuarios y particulares) registrarse. El usuario debe suministrar datos como Cl, Nombre, Apellido, E-mail, usuario y password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</a:t>
                      </a:r>
                      <a:r>
                        <a:rPr lang="es"/>
                        <a:t>facilitará</a:t>
                      </a:r>
                      <a:r>
                        <a:rPr lang="es"/>
                        <a:t> el ingreso de cualquier usuario, con toda la seguridad que este brinda para lograr un buen manejo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9" name="Google Shape;149;p23"/>
          <p:cNvGraphicFramePr/>
          <p:nvPr/>
        </p:nvGraphicFramePr>
        <p:xfrm>
          <a:off x="2003288" y="4322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6739500"/>
              </a:tblGrid>
              <a:tr h="20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Requisito :</a:t>
                      </a:r>
                      <a:r>
                        <a:rPr lang="es"/>
                        <a:t>Alta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Google Shape;154;p24"/>
          <p:cNvGraphicFramePr/>
          <p:nvPr/>
        </p:nvGraphicFramePr>
        <p:xfrm>
          <a:off x="1975175" y="124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087800"/>
                <a:gridCol w="3651700"/>
              </a:tblGrid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RF03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Consultar información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93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Consultar </a:t>
                      </a:r>
                      <a:r>
                        <a:rPr b="1" lang="es"/>
                        <a:t>información</a:t>
                      </a:r>
                      <a:r>
                        <a:rPr b="1" lang="es"/>
                        <a:t>: </a:t>
                      </a:r>
                      <a:r>
                        <a:rPr lang="es"/>
                        <a:t>se muestra información de la </a:t>
                      </a:r>
                      <a:r>
                        <a:rPr lang="es"/>
                        <a:t>institución</a:t>
                      </a:r>
                      <a:r>
                        <a:rPr lang="es"/>
                        <a:t> y grupos de estudiantes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</a:t>
                      </a:r>
                      <a:r>
                        <a:rPr lang="es"/>
                        <a:t>permitirá</a:t>
                      </a:r>
                      <a:r>
                        <a:rPr lang="es"/>
                        <a:t> el </a:t>
                      </a:r>
                      <a:r>
                        <a:rPr lang="es"/>
                        <a:t>fácil</a:t>
                      </a:r>
                      <a:r>
                        <a:rPr lang="es"/>
                        <a:t> manejo y control de las actividades planteadas por la </a:t>
                      </a:r>
                      <a:r>
                        <a:rPr lang="es"/>
                        <a:t>institución</a:t>
                      </a:r>
                      <a:r>
                        <a:rPr lang="es"/>
                        <a:t> y </a:t>
                      </a:r>
                      <a:r>
                        <a:rPr lang="es"/>
                        <a:t>así</a:t>
                      </a:r>
                      <a:r>
                        <a:rPr lang="es"/>
                        <a:t> poder llevar un orden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5" name="Google Shape;155;p24"/>
          <p:cNvGraphicFramePr/>
          <p:nvPr/>
        </p:nvGraphicFramePr>
        <p:xfrm>
          <a:off x="1975163" y="408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6739500"/>
              </a:tblGrid>
              <a:tr h="18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Requisito :</a:t>
                      </a:r>
                      <a:r>
                        <a:rPr lang="es"/>
                        <a:t>Alta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" name="Google Shape;160;p25"/>
          <p:cNvGraphicFramePr/>
          <p:nvPr/>
        </p:nvGraphicFramePr>
        <p:xfrm>
          <a:off x="1975175" y="124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087800"/>
                <a:gridCol w="3651700"/>
              </a:tblGrid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RF04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Modificar</a:t>
                      </a:r>
                      <a:endParaRPr sz="26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93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permite al administrador modificar datos de los usuarios para un buen manejo de </a:t>
                      </a:r>
                      <a:r>
                        <a:rPr lang="es"/>
                        <a:t>información</a:t>
                      </a:r>
                      <a:endParaRPr sz="26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</a:t>
                      </a:r>
                      <a:r>
                        <a:rPr lang="es"/>
                        <a:t>contará</a:t>
                      </a:r>
                      <a:r>
                        <a:rPr lang="es"/>
                        <a:t> con un buen manejo de </a:t>
                      </a:r>
                      <a:r>
                        <a:rPr lang="es"/>
                        <a:t>información</a:t>
                      </a:r>
                      <a:r>
                        <a:rPr lang="es"/>
                        <a:t> para que los usuarios puedan solicitar cambio de datos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1" name="Google Shape;161;p25"/>
          <p:cNvGraphicFramePr/>
          <p:nvPr/>
        </p:nvGraphicFramePr>
        <p:xfrm>
          <a:off x="1975163" y="408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6739500"/>
              </a:tblGrid>
              <a:tr h="18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Requisito :</a:t>
                      </a:r>
                      <a:r>
                        <a:rPr lang="es"/>
                        <a:t>Alta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" name="Google Shape;166;p26"/>
          <p:cNvGraphicFramePr/>
          <p:nvPr/>
        </p:nvGraphicFramePr>
        <p:xfrm>
          <a:off x="1975175" y="124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087800"/>
                <a:gridCol w="3651700"/>
              </a:tblGrid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RF05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Gestión de la </a:t>
                      </a:r>
                      <a:r>
                        <a:rPr lang="es"/>
                        <a:t>información</a:t>
                      </a:r>
                      <a:endParaRPr sz="3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93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Crear grupos y actividades:</a:t>
                      </a:r>
                      <a:r>
                        <a:rPr lang="es"/>
                        <a:t> Permite al cliente crear las actividades de la </a:t>
                      </a:r>
                      <a:r>
                        <a:rPr lang="es"/>
                        <a:t>institución</a:t>
                      </a:r>
                      <a:r>
                        <a:rPr lang="es"/>
                        <a:t> dentro del sistema y generar </a:t>
                      </a:r>
                      <a:r>
                        <a:rPr lang="es"/>
                        <a:t>información</a:t>
                      </a:r>
                      <a:r>
                        <a:rPr lang="es"/>
                        <a:t> para los grupos</a:t>
                      </a:r>
                      <a:endParaRPr sz="3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</a:t>
                      </a:r>
                      <a:r>
                        <a:rPr lang="es"/>
                        <a:t>contará</a:t>
                      </a:r>
                      <a:r>
                        <a:rPr lang="es"/>
                        <a:t> con buena </a:t>
                      </a:r>
                      <a:r>
                        <a:rPr lang="es"/>
                        <a:t>información</a:t>
                      </a:r>
                      <a:r>
                        <a:rPr lang="es"/>
                        <a:t> y sucesos que </a:t>
                      </a:r>
                      <a:r>
                        <a:rPr lang="es"/>
                        <a:t>vayan</a:t>
                      </a:r>
                      <a:r>
                        <a:rPr lang="es"/>
                        <a:t> ocurriendo dentro de la </a:t>
                      </a:r>
                      <a:r>
                        <a:rPr lang="es"/>
                        <a:t>institución</a:t>
                      </a: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" name="Google Shape;167;p26"/>
          <p:cNvGraphicFramePr/>
          <p:nvPr/>
        </p:nvGraphicFramePr>
        <p:xfrm>
          <a:off x="1975163" y="408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6739500"/>
              </a:tblGrid>
              <a:tr h="18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Requisito :</a:t>
                      </a:r>
                      <a:r>
                        <a:rPr lang="es"/>
                        <a:t>Alta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p27"/>
          <p:cNvGraphicFramePr/>
          <p:nvPr/>
        </p:nvGraphicFramePr>
        <p:xfrm>
          <a:off x="1975175" y="124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087800"/>
                <a:gridCol w="3651700"/>
              </a:tblGrid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RF06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Gestión de la información</a:t>
                      </a:r>
                      <a:endParaRPr sz="3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93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Registrar usuario:</a:t>
                      </a:r>
                      <a:r>
                        <a:rPr lang="es"/>
                        <a:t> El usuario deberá suministrar su </a:t>
                      </a:r>
                      <a:r>
                        <a:rPr lang="es"/>
                        <a:t>cédula</a:t>
                      </a:r>
                      <a:r>
                        <a:rPr lang="es"/>
                        <a:t> (tarjeta de identidad) y contraseña para ingresar al sistema</a:t>
                      </a:r>
                      <a:endParaRPr sz="34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</a:t>
                      </a:r>
                      <a:r>
                        <a:rPr lang="es"/>
                        <a:t>tendrá</a:t>
                      </a:r>
                      <a:r>
                        <a:rPr lang="es"/>
                        <a:t> buena seguridad a la hora del ingreso para que el usuario se sienta seguro con sus datos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3" name="Google Shape;173;p27"/>
          <p:cNvGraphicFramePr/>
          <p:nvPr/>
        </p:nvGraphicFramePr>
        <p:xfrm>
          <a:off x="1975163" y="401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6739500"/>
              </a:tblGrid>
              <a:tr h="25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Requisito :</a:t>
                      </a:r>
                      <a:r>
                        <a:rPr lang="es"/>
                        <a:t>Alta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Google Shape;178;p28"/>
          <p:cNvGraphicFramePr/>
          <p:nvPr/>
        </p:nvGraphicFramePr>
        <p:xfrm>
          <a:off x="1975175" y="1027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087800"/>
                <a:gridCol w="3651700"/>
              </a:tblGrid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RF07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Integración de componentes </a:t>
                      </a:r>
                      <a:endParaRPr sz="34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93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El componente de inventario deberá integrarse al sistema de información web proporcionando los recursos necesarios, con el propósito de que la interacción con los usuarios sea provechosa </a:t>
                      </a:r>
                      <a:endParaRPr sz="37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</a:t>
                      </a:r>
                      <a:r>
                        <a:rPr lang="es"/>
                        <a:t>permitirá</a:t>
                      </a:r>
                      <a:r>
                        <a:rPr lang="es"/>
                        <a:t> tener un inventario para tener buena interaccion con los usuarios que intervienen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9" name="Google Shape;179;p28"/>
          <p:cNvGraphicFramePr/>
          <p:nvPr/>
        </p:nvGraphicFramePr>
        <p:xfrm>
          <a:off x="1975163" y="411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6739500"/>
              </a:tblGrid>
              <a:tr h="26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Requisito :</a:t>
                      </a:r>
                      <a:r>
                        <a:rPr lang="es"/>
                        <a:t>Alta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" name="Google Shape;184;p29"/>
          <p:cNvGraphicFramePr/>
          <p:nvPr/>
        </p:nvGraphicFramePr>
        <p:xfrm>
          <a:off x="1975175" y="124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087800"/>
                <a:gridCol w="3651700"/>
              </a:tblGrid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RF08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Gestionar reportes</a:t>
                      </a:r>
                      <a:endParaRPr sz="34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93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Permite al cliente imprimir reportes de los eventos, así mismo ver listados </a:t>
                      </a:r>
                      <a:r>
                        <a:rPr lang="es"/>
                        <a:t>información de ingresos</a:t>
                      </a:r>
                      <a:endParaRPr sz="3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</a:t>
                      </a:r>
                      <a:r>
                        <a:rPr lang="es"/>
                        <a:t>contará</a:t>
                      </a:r>
                      <a:r>
                        <a:rPr lang="es"/>
                        <a:t> con una </a:t>
                      </a:r>
                      <a:r>
                        <a:rPr lang="es"/>
                        <a:t>gestión</a:t>
                      </a:r>
                      <a:r>
                        <a:rPr lang="es"/>
                        <a:t> que </a:t>
                      </a:r>
                      <a:r>
                        <a:rPr lang="es"/>
                        <a:t>podrá</a:t>
                      </a:r>
                      <a:r>
                        <a:rPr lang="es"/>
                        <a:t> descargar datos e </a:t>
                      </a:r>
                      <a:r>
                        <a:rPr lang="es"/>
                        <a:t>información</a:t>
                      </a:r>
                      <a:r>
                        <a:rPr lang="es"/>
                        <a:t> de la </a:t>
                      </a:r>
                      <a:r>
                        <a:rPr lang="es"/>
                        <a:t>institución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" name="Google Shape;185;p29"/>
          <p:cNvGraphicFramePr/>
          <p:nvPr/>
        </p:nvGraphicFramePr>
        <p:xfrm>
          <a:off x="1975163" y="401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6739500"/>
              </a:tblGrid>
              <a:tr h="25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Requisito :</a:t>
                      </a:r>
                      <a:r>
                        <a:rPr lang="es"/>
                        <a:t>Alta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Google Shape;190;p30"/>
          <p:cNvGraphicFramePr/>
          <p:nvPr/>
        </p:nvGraphicFramePr>
        <p:xfrm>
          <a:off x="1975175" y="124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087800"/>
                <a:gridCol w="3651700"/>
              </a:tblGrid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RF09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Acreditar</a:t>
                      </a:r>
                      <a:endParaRPr sz="34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93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Permite al cliente dar constancia de que el usuario participo de alguna actividad hecha en el sistema</a:t>
                      </a:r>
                      <a:endParaRPr sz="3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Se </a:t>
                      </a:r>
                      <a:r>
                        <a:rPr lang="es"/>
                        <a:t>tendrá</a:t>
                      </a:r>
                      <a:r>
                        <a:rPr lang="es"/>
                        <a:t> buena </a:t>
                      </a:r>
                      <a:r>
                        <a:rPr lang="es"/>
                        <a:t>información,</a:t>
                      </a:r>
                      <a:r>
                        <a:rPr lang="es"/>
                        <a:t> de cada usuario que ingresa a realizar alguna actividad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" name="Google Shape;191;p30"/>
          <p:cNvGraphicFramePr/>
          <p:nvPr/>
        </p:nvGraphicFramePr>
        <p:xfrm>
          <a:off x="1975163" y="401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6739500"/>
              </a:tblGrid>
              <a:tr h="25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Requisito :</a:t>
                      </a:r>
                      <a:r>
                        <a:rPr lang="es"/>
                        <a:t>Alta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" name="Google Shape;196;p31"/>
          <p:cNvGraphicFramePr/>
          <p:nvPr/>
        </p:nvGraphicFramePr>
        <p:xfrm>
          <a:off x="1975175" y="124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087800"/>
                <a:gridCol w="3651700"/>
              </a:tblGrid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RF10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Auditoría</a:t>
                      </a:r>
                      <a:r>
                        <a:rPr lang="es"/>
                        <a:t> del sistema</a:t>
                      </a:r>
                      <a:endParaRPr sz="34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93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Evaluar y analizar los procesos del sistema, proponiendo solución de problemas existentes dentro del sistema utilizado</a:t>
                      </a:r>
                      <a:endParaRPr sz="3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5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Requisito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</a:t>
                      </a:r>
                      <a:r>
                        <a:rPr lang="es"/>
                        <a:t>permitirá el acceso para el problema que esté presente en alguna ejecución, y así generar una solución pronta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7" name="Google Shape;197;p31"/>
          <p:cNvGraphicFramePr/>
          <p:nvPr/>
        </p:nvGraphicFramePr>
        <p:xfrm>
          <a:off x="1975163" y="401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6739500"/>
              </a:tblGrid>
              <a:tr h="25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Requisito :</a:t>
                      </a:r>
                      <a:r>
                        <a:rPr lang="es"/>
                        <a:t>Alta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 No Funcionales</a:t>
            </a:r>
            <a:endParaRPr/>
          </a:p>
        </p:txBody>
      </p:sp>
      <p:graphicFrame>
        <p:nvGraphicFramePr>
          <p:cNvPr id="203" name="Google Shape;203;p32"/>
          <p:cNvGraphicFramePr/>
          <p:nvPr/>
        </p:nvGraphicFramePr>
        <p:xfrm>
          <a:off x="1511425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060575"/>
                <a:gridCol w="3619500"/>
              </a:tblGrid>
              <a:tr h="45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RNF01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45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Interfaz del sistema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69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</a:t>
                      </a:r>
                      <a:r>
                        <a:rPr lang="es"/>
                        <a:t>constará</a:t>
                      </a:r>
                      <a:r>
                        <a:rPr lang="es"/>
                        <a:t> con una </a:t>
                      </a:r>
                      <a:r>
                        <a:rPr lang="es"/>
                        <a:t>interfaz</a:t>
                      </a:r>
                      <a:r>
                        <a:rPr lang="es"/>
                        <a:t> sencilla para el </a:t>
                      </a:r>
                      <a:r>
                        <a:rPr lang="es"/>
                        <a:t>fácil</a:t>
                      </a:r>
                      <a:r>
                        <a:rPr lang="es"/>
                        <a:t> manejo de los usuarios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45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Implementara una interfaz de uso sencilla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4" name="Google Shape;204;p32"/>
          <p:cNvGraphicFramePr/>
          <p:nvPr/>
        </p:nvGraphicFramePr>
        <p:xfrm>
          <a:off x="1511425" y="387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6680075"/>
              </a:tblGrid>
              <a:tr h="38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Requerimiento </a:t>
                      </a:r>
                      <a:r>
                        <a:rPr lang="es"/>
                        <a:t>Alta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" name="Google Shape;209;p33"/>
          <p:cNvGraphicFramePr/>
          <p:nvPr/>
        </p:nvGraphicFramePr>
        <p:xfrm>
          <a:off x="1497825" y="157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504875"/>
                <a:gridCol w="350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RNF02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Mantenimiento.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</a:t>
                      </a:r>
                      <a:r>
                        <a:rPr lang="es"/>
                        <a:t>deberá</a:t>
                      </a:r>
                      <a:r>
                        <a:rPr lang="es"/>
                        <a:t> tener un manual de </a:t>
                      </a:r>
                      <a:r>
                        <a:rPr lang="es"/>
                        <a:t>instalación</a:t>
                      </a:r>
                      <a:r>
                        <a:rPr lang="es"/>
                        <a:t> y un manual de mantenimiento que </a:t>
                      </a:r>
                      <a:r>
                        <a:rPr lang="es"/>
                        <a:t>realizará</a:t>
                      </a:r>
                      <a:r>
                        <a:rPr lang="es"/>
                        <a:t> el administrador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</a:t>
                      </a:r>
                      <a:r>
                        <a:rPr lang="es"/>
                        <a:t>contará</a:t>
                      </a:r>
                      <a:r>
                        <a:rPr lang="es"/>
                        <a:t> con documentacion </a:t>
                      </a:r>
                      <a:r>
                        <a:rPr lang="es"/>
                        <a:t>fácilmente</a:t>
                      </a:r>
                      <a:r>
                        <a:rPr lang="es"/>
                        <a:t> actualizable, que permita realizar el mantenimiento con el menor esfuerzo posible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0" name="Google Shape;210;p33"/>
          <p:cNvGraphicFramePr/>
          <p:nvPr/>
        </p:nvGraphicFramePr>
        <p:xfrm>
          <a:off x="1497825" y="419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70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Requerimiento </a:t>
                      </a:r>
                      <a:r>
                        <a:rPr lang="es"/>
                        <a:t>Alta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" name="Google Shape;215;p34"/>
          <p:cNvGraphicFramePr/>
          <p:nvPr/>
        </p:nvGraphicFramePr>
        <p:xfrm>
          <a:off x="1393975" y="1508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RNF03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Diseño de la interfaz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</a:t>
                      </a:r>
                      <a:r>
                        <a:rPr lang="es"/>
                        <a:t>contará</a:t>
                      </a:r>
                      <a:r>
                        <a:rPr lang="es"/>
                        <a:t> con una interfaz con </a:t>
                      </a:r>
                      <a:r>
                        <a:rPr lang="es"/>
                        <a:t>información</a:t>
                      </a:r>
                      <a:r>
                        <a:rPr lang="es"/>
                        <a:t> sobre la </a:t>
                      </a:r>
                      <a:r>
                        <a:rPr lang="es"/>
                        <a:t>institución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</a:t>
                      </a:r>
                      <a:r>
                        <a:rPr lang="es"/>
                        <a:t>contará</a:t>
                      </a:r>
                      <a:r>
                        <a:rPr lang="es"/>
                        <a:t> con una interfaz moderna con </a:t>
                      </a:r>
                      <a:r>
                        <a:rPr lang="es"/>
                        <a:t>información más relevante</a:t>
                      </a:r>
                      <a:r>
                        <a:rPr lang="es"/>
                        <a:t> sobre la </a:t>
                      </a:r>
                      <a:r>
                        <a:rPr lang="es"/>
                        <a:t>institución, el logo de la institución y los colores de la institución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6" name="Google Shape;216;p34"/>
          <p:cNvGraphicFramePr/>
          <p:nvPr/>
        </p:nvGraphicFramePr>
        <p:xfrm>
          <a:off x="1393975" y="391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723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Requerimiento </a:t>
                      </a:r>
                      <a:r>
                        <a:rPr lang="es"/>
                        <a:t>Alto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" name="Google Shape;221;p35"/>
          <p:cNvGraphicFramePr/>
          <p:nvPr/>
        </p:nvGraphicFramePr>
        <p:xfrm>
          <a:off x="1411100" y="129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RNF04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Desempeño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garantizara al usuario una consulta ideal utilizando la </a:t>
                      </a:r>
                      <a:r>
                        <a:rPr lang="es"/>
                        <a:t>información</a:t>
                      </a:r>
                      <a:r>
                        <a:rPr lang="es"/>
                        <a:t> almacenada en la base de datos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Garantizara el desempeño y la fiabilidad del sistema a la hora de la consulta </a:t>
                      </a:r>
                      <a:r>
                        <a:rPr lang="es"/>
                        <a:t>basándose en la base de datos o registros que estos a su vez podrán ser consultados y actualizados permanentemente, sin que se afecte el tiempo de respuesta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2" name="Google Shape;222;p35"/>
          <p:cNvGraphicFramePr/>
          <p:nvPr/>
        </p:nvGraphicFramePr>
        <p:xfrm>
          <a:off x="1411100" y="430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723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Requerimiento </a:t>
                      </a:r>
                      <a:r>
                        <a:rPr lang="es"/>
                        <a:t>Alto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" name="Google Shape;227;p36"/>
          <p:cNvGraphicFramePr/>
          <p:nvPr/>
        </p:nvGraphicFramePr>
        <p:xfrm>
          <a:off x="1547400" y="128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RNF05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Continuidad del sistema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</a:t>
                      </a:r>
                      <a:r>
                        <a:rPr lang="es"/>
                        <a:t>tendrá</a:t>
                      </a:r>
                      <a:r>
                        <a:rPr lang="es"/>
                        <a:t> acceso y disponibilidad de la </a:t>
                      </a:r>
                      <a:r>
                        <a:rPr lang="es"/>
                        <a:t>información</a:t>
                      </a:r>
                      <a:r>
                        <a:rPr lang="es"/>
                        <a:t> las 24/7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La disponibilidad de los usuarios </a:t>
                      </a:r>
                      <a:r>
                        <a:rPr lang="es"/>
                        <a:t>será</a:t>
                      </a:r>
                      <a:r>
                        <a:rPr lang="es"/>
                        <a:t> de 7 </a:t>
                      </a:r>
                      <a:r>
                        <a:rPr lang="es"/>
                        <a:t>días</a:t>
                      </a:r>
                      <a:r>
                        <a:rPr lang="es"/>
                        <a:t> las 24 horas, generando un esquema adecuado que permita la posible falla de cualquiera de sus componentes, generando una alerta o alarma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8" name="Google Shape;228;p36"/>
          <p:cNvGraphicFramePr/>
          <p:nvPr/>
        </p:nvGraphicFramePr>
        <p:xfrm>
          <a:off x="1547400" y="390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723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Requerimiento </a:t>
                      </a:r>
                      <a:r>
                        <a:rPr lang="es"/>
                        <a:t>Alto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3" name="Google Shape;233;p37"/>
          <p:cNvGraphicFramePr/>
          <p:nvPr/>
        </p:nvGraphicFramePr>
        <p:xfrm>
          <a:off x="1386300" y="134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RNF06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Eficiencia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</a:t>
                      </a:r>
                      <a:r>
                        <a:rPr lang="es"/>
                        <a:t>debe ser capaz de dar una respuesta no mayor a 4 segundos al usuario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 sistema garantiza una fluidez en el </a:t>
                      </a:r>
                      <a:r>
                        <a:rPr lang="es"/>
                        <a:t>tráfico</a:t>
                      </a:r>
                      <a:r>
                        <a:rPr lang="es"/>
                        <a:t> de datos, debe dar una respuesta de </a:t>
                      </a:r>
                      <a:r>
                        <a:rPr lang="es"/>
                        <a:t>aproximadamente</a:t>
                      </a:r>
                      <a:r>
                        <a:rPr lang="es"/>
                        <a:t> 4 segundos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Google Shape;234;p37"/>
          <p:cNvGraphicFramePr/>
          <p:nvPr/>
        </p:nvGraphicFramePr>
        <p:xfrm>
          <a:off x="1386300" y="375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723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Requerimiento </a:t>
                      </a:r>
                      <a:r>
                        <a:rPr lang="es"/>
                        <a:t>Alto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" name="Google Shape;239;p38"/>
          <p:cNvGraphicFramePr/>
          <p:nvPr/>
        </p:nvGraphicFramePr>
        <p:xfrm>
          <a:off x="1497825" y="1583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RNF07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6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0" name="Google Shape;240;p38"/>
          <p:cNvGraphicFramePr/>
          <p:nvPr/>
        </p:nvGraphicFramePr>
        <p:xfrm>
          <a:off x="1497825" y="316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723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" name="Google Shape;245;p39"/>
          <p:cNvGraphicFramePr/>
          <p:nvPr/>
        </p:nvGraphicFramePr>
        <p:xfrm>
          <a:off x="1591075" y="13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RNF08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6" name="Google Shape;246;p39"/>
          <p:cNvGraphicFramePr/>
          <p:nvPr/>
        </p:nvGraphicFramePr>
        <p:xfrm>
          <a:off x="1591075" y="292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723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1" name="Google Shape;251;p40"/>
          <p:cNvGraphicFramePr/>
          <p:nvPr/>
        </p:nvGraphicFramePr>
        <p:xfrm>
          <a:off x="1617300" y="130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RNF09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2" name="Google Shape;252;p40"/>
          <p:cNvGraphicFramePr/>
          <p:nvPr/>
        </p:nvGraphicFramePr>
        <p:xfrm>
          <a:off x="1617300" y="288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723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7" name="Google Shape;257;p41"/>
          <p:cNvGraphicFramePr/>
          <p:nvPr/>
        </p:nvGraphicFramePr>
        <p:xfrm>
          <a:off x="1634800" y="163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Identificación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RNF10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Nombre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Características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Descripción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8" name="Google Shape;258;p41"/>
          <p:cNvGraphicFramePr/>
          <p:nvPr/>
        </p:nvGraphicFramePr>
        <p:xfrm>
          <a:off x="1634800" y="3215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{DB684E3F-FEB2-4F04-8B09-10E6F3D809C2}</a:tableStyleId>
              </a:tblPr>
              <a:tblGrid>
                <a:gridCol w="723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Prioridad del Requerimiento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Cuestionario para el rector</a:t>
            </a:r>
            <a:endParaRPr/>
          </a:p>
        </p:txBody>
      </p:sp>
      <p:pic>
        <p:nvPicPr>
          <p:cNvPr id="264" name="Google Shape;26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425" y="1299450"/>
            <a:ext cx="6468490" cy="36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8275" y="1219650"/>
            <a:ext cx="6515952" cy="366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8300" y="1276700"/>
            <a:ext cx="6468490" cy="36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4475" y="1265675"/>
            <a:ext cx="6811800" cy="383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6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Cuestionario para profesores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7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Cuestionario para estudiantes</a:t>
            </a:r>
            <a:endParaRPr/>
          </a:p>
        </p:txBody>
      </p:sp>
      <p:sp>
        <p:nvSpPr>
          <p:cNvPr id="290" name="Google Shape;290;p47"/>
          <p:cNvSpPr txBox="1"/>
          <p:nvPr/>
        </p:nvSpPr>
        <p:spPr>
          <a:xfrm>
            <a:off x="141500" y="1351325"/>
            <a:ext cx="88509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8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Cuestionario para vigilantes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9"/>
          <p:cNvSpPr txBox="1"/>
          <p:nvPr>
            <p:ph type="title"/>
          </p:nvPr>
        </p:nvSpPr>
        <p:spPr>
          <a:xfrm>
            <a:off x="903375" y="318375"/>
            <a:ext cx="5868600" cy="97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Cuestionario para servicio de limpieza  </a:t>
            </a:r>
            <a:endParaRPr/>
          </a:p>
        </p:txBody>
      </p:sp>
      <p:pic>
        <p:nvPicPr>
          <p:cNvPr id="301" name="Google Shape;30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950" y="1417325"/>
            <a:ext cx="7692775" cy="32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4050" y="869675"/>
            <a:ext cx="7682549" cy="35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925" y="1097125"/>
            <a:ext cx="7516199" cy="317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900" y="975100"/>
            <a:ext cx="7638727" cy="32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53"/>
          <p:cNvPicPr preferRelativeResize="0"/>
          <p:nvPr/>
        </p:nvPicPr>
        <p:blipFill rotWithShape="1">
          <a:blip r:embed="rId3">
            <a:alphaModFix/>
          </a:blip>
          <a:srcRect b="19027" l="0" r="0" t="18565"/>
          <a:stretch/>
        </p:blipFill>
        <p:spPr>
          <a:xfrm>
            <a:off x="1737825" y="1233175"/>
            <a:ext cx="7199151" cy="307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6675" y="1105850"/>
            <a:ext cx="7594926" cy="30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asset template">
  <a:themeElements>
    <a:clrScheme name="Custom 347">
      <a:dk1>
        <a:srgbClr val="434343"/>
      </a:dk1>
      <a:lt1>
        <a:srgbClr val="FFFFFF"/>
      </a:lt1>
      <a:dk2>
        <a:srgbClr val="D9D9D9"/>
      </a:dk2>
      <a:lt2>
        <a:srgbClr val="FFFFFF"/>
      </a:lt2>
      <a:accent1>
        <a:srgbClr val="FFB000"/>
      </a:accent1>
      <a:accent2>
        <a:srgbClr val="FFE19E"/>
      </a:accent2>
      <a:accent3>
        <a:srgbClr val="6D9EEB"/>
      </a:accent3>
      <a:accent4>
        <a:srgbClr val="C9DAF8"/>
      </a:accent4>
      <a:accent5>
        <a:srgbClr val="93C47D"/>
      </a:accent5>
      <a:accent6>
        <a:srgbClr val="D9EAD3"/>
      </a:accent6>
      <a:hlink>
        <a:srgbClr val="FF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